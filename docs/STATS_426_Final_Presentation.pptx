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Helvetica Neue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7" roundtripDataSignature="AMtx7mg6JuKynhFRQXiRv1kVpj5PikOf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B6FA3C-E987-4C93-9B56-3DDFC1A0D2A4}">
  <a:tblStyle styleId="{5BB6FA3C-E987-4C93-9B56-3DDFC1A0D2A4}" styleName="Table_0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BF1"/>
          </a:solidFill>
        </a:fill>
      </a:tcStyle>
    </a:wholeTbl>
    <a:band1H>
      <a:tcTxStyle b="off" i="off"/>
      <a:tcStyle>
        <a:fill>
          <a:solidFill>
            <a:srgbClr val="CBD5E3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D5E3"/>
          </a:solidFill>
        </a:fill>
      </a:tcStyle>
    </a:band1V>
    <a:band2V>
      <a:tcTxStyle b="off" i="off"/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e10b0eb56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e10b0eb56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ce10b0eb56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ff30ca65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9ff30ca65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9ff30ca65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d75d343c2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d75d343c2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use PNA because transaction graphs have extremely skewed degree distributions. Some accounts interact with hundreds of others while most interact with only a few. PNA uses multiple aggregators and degree-scaled normalization to better capture these structural differences.</a:t>
            </a:r>
            <a:endParaRPr/>
          </a:p>
        </p:txBody>
      </p:sp>
      <p:sp>
        <p:nvSpPr>
          <p:cNvPr id="184" name="Google Shape;184;g3cd75d343c2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e73a120dd_0_9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e73a120dd_0_9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ce73a120dd_0_9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d75d343c2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d75d343c2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cd75d343c2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d75d343c2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d75d343c2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The Math &amp; The "V":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In our equation, $V$ (Value) is simply the actual data payload—the features of the neighboring account. The rest of the math ($Q$, $K$, and the Edge Bias) is just calculating a percentage of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how important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that neighbor is. We multiply that final percentage by $V$ to send the update.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The Gate's Job (The Bouncer):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The $Gate_{edge}$ uses a Sigmoid function, which mathematically forces any number into a strict range between 0 and 1. It acts as a hard filter for the network.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Blocking vs. Passing: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If the model sees a normal, boring transaction, the Gate outputs $\sim 0$, which multiplies against the message and completely mutes it. If it spots suspicious behavior (like smurfing), it outputs $\sim 1$, letting the full warning signal pass through.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cd75d343c2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e73a120dd_0_9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ce73a120dd_0_9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ce73a120dd_0_9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d75d343c2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d75d343c2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cd75d343c2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e9e6028ec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ce9e6028ec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ce9e6028ec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e9e6028e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ce9e6028e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ce9e6028ec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e73a120dd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g3ce73a120dd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e73a120d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3ce73a120d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e9e6028ec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g3ce9e6028ec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pener">
  <p:cSld name="Title Open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5"/>
          <p:cNvSpPr/>
          <p:nvPr/>
        </p:nvSpPr>
        <p:spPr>
          <a:xfrm>
            <a:off x="0" y="0"/>
            <a:ext cx="9144000" cy="51513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640080" y="4663376"/>
            <a:ext cx="1726178" cy="1670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Helvetica Neue"/>
              <a:buNone/>
              <a:defRPr b="0" i="0" sz="1200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640080" y="4480496"/>
            <a:ext cx="1188720" cy="1670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Helvetica Neue"/>
              <a:buNone/>
              <a:defRPr b="0" i="0" sz="1200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5"/>
          <p:cNvSpPr/>
          <p:nvPr/>
        </p:nvSpPr>
        <p:spPr>
          <a:xfrm>
            <a:off x="640080" y="3017520"/>
            <a:ext cx="7772400" cy="36576"/>
          </a:xfrm>
          <a:prstGeom prst="rect">
            <a:avLst/>
          </a:prstGeom>
          <a:solidFill>
            <a:srgbClr val="2C75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640080" y="1828800"/>
            <a:ext cx="7772400" cy="36576"/>
          </a:xfrm>
          <a:prstGeom prst="rect">
            <a:avLst/>
          </a:prstGeom>
          <a:solidFill>
            <a:srgbClr val="2C75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24;p5"/>
          <p:cNvSpPr/>
          <p:nvPr>
            <p:ph idx="3" type="pic"/>
          </p:nvPr>
        </p:nvSpPr>
        <p:spPr>
          <a:xfrm>
            <a:off x="647698" y="476251"/>
            <a:ext cx="5564638" cy="1031639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5"/>
          <p:cNvSpPr txBox="1"/>
          <p:nvPr>
            <p:ph idx="4" type="body"/>
          </p:nvPr>
        </p:nvSpPr>
        <p:spPr>
          <a:xfrm>
            <a:off x="640080" y="1645920"/>
            <a:ext cx="33832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800"/>
              <a:buNone/>
              <a:defRPr sz="80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Font typeface="Arial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5"/>
          <p:cNvSpPr txBox="1"/>
          <p:nvPr/>
        </p:nvSpPr>
        <p:spPr>
          <a:xfrm>
            <a:off x="6594764" y="304800"/>
            <a:ext cx="1427018" cy="137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7;p5"/>
          <p:cNvSpPr txBox="1"/>
          <p:nvPr>
            <p:ph idx="5" type="body"/>
          </p:nvPr>
        </p:nvSpPr>
        <p:spPr>
          <a:xfrm>
            <a:off x="3529852" y="3192476"/>
            <a:ext cx="4882627" cy="25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C28FC"/>
              </a:buClr>
              <a:buSzPts val="900"/>
              <a:buFont typeface="Arial"/>
              <a:buNone/>
              <a:defRPr sz="900">
                <a:solidFill>
                  <a:srgbClr val="FC28FC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6" type="body"/>
          </p:nvPr>
        </p:nvSpPr>
        <p:spPr>
          <a:xfrm>
            <a:off x="3529852" y="3525422"/>
            <a:ext cx="4882627" cy="25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C28FC"/>
              </a:buClr>
              <a:buSzPts val="900"/>
              <a:buFont typeface="Arial"/>
              <a:buNone/>
              <a:defRPr sz="900">
                <a:solidFill>
                  <a:srgbClr val="FC28FC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7" type="body"/>
          </p:nvPr>
        </p:nvSpPr>
        <p:spPr>
          <a:xfrm>
            <a:off x="3529852" y="3858368"/>
            <a:ext cx="4882627" cy="716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C28FC"/>
              </a:buClr>
              <a:buSzPts val="900"/>
              <a:buFont typeface="Arial"/>
              <a:buNone/>
              <a:defRPr sz="900">
                <a:solidFill>
                  <a:srgbClr val="FC28FC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8" type="body"/>
          </p:nvPr>
        </p:nvSpPr>
        <p:spPr>
          <a:xfrm>
            <a:off x="3529852" y="4656177"/>
            <a:ext cx="4882627" cy="1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C28FC"/>
              </a:buClr>
              <a:buSzPts val="900"/>
              <a:buFont typeface="Arial"/>
              <a:buNone/>
              <a:defRPr sz="900">
                <a:solidFill>
                  <a:srgbClr val="FC28FC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9" type="body"/>
          </p:nvPr>
        </p:nvSpPr>
        <p:spPr>
          <a:xfrm>
            <a:off x="640080" y="1892808"/>
            <a:ext cx="7772400" cy="1102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Font typeface="Arial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/>
        </p:nvSpPr>
        <p:spPr>
          <a:xfrm>
            <a:off x="6594764" y="304800"/>
            <a:ext cx="1427018" cy="137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00">
          <p15:clr>
            <a:srgbClr val="FBAE40"/>
          </p15:clr>
        </p15:guide>
        <p15:guide id="2" orient="horz" pos="540">
          <p15:clr>
            <a:srgbClr val="FBAE40"/>
          </p15:clr>
        </p15:guide>
        <p15:guide id="3" pos="4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able">
  <p:cSld name="Header w/tab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640079" y="367401"/>
            <a:ext cx="7772400" cy="3899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/>
          <p:nvPr>
            <p:ph idx="2" type="tbl"/>
          </p:nvPr>
        </p:nvSpPr>
        <p:spPr>
          <a:xfrm>
            <a:off x="1097280" y="1188720"/>
            <a:ext cx="6400800" cy="3108960"/>
          </a:xfrm>
          <a:prstGeom prst="rect">
            <a:avLst/>
          </a:prstGeom>
          <a:solidFill>
            <a:srgbClr val="DBE7F5"/>
          </a:solidFill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50"/>
              <a:buFont typeface="Helvetica Neue"/>
              <a:buNone/>
              <a:defRPr b="0" i="0" sz="135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7739809" y="1188720"/>
            <a:ext cx="946991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FC28FC"/>
              </a:buClr>
              <a:buSzPts val="800"/>
              <a:buNone/>
              <a:defRPr b="0" sz="800">
                <a:solidFill>
                  <a:srgbClr val="FC28F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640080" y="1874520"/>
            <a:ext cx="7772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640080" y="2468880"/>
            <a:ext cx="7772400" cy="36576"/>
          </a:xfrm>
          <a:prstGeom prst="rect">
            <a:avLst/>
          </a:prstGeom>
          <a:solidFill>
            <a:srgbClr val="2C75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640080" y="1874520"/>
            <a:ext cx="7772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/>
          <p:nvPr/>
        </p:nvSpPr>
        <p:spPr>
          <a:xfrm>
            <a:off x="640080" y="1874520"/>
            <a:ext cx="7772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Section Divi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" name="Google Shape;49;p8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640079" y="26517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600"/>
              <a:buFont typeface="Helvetica Neue"/>
              <a:buNone/>
              <a:defRPr b="1" i="0" sz="160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/>
        </p:nvSpPr>
        <p:spPr>
          <a:xfrm>
            <a:off x="640080" y="1874520"/>
            <a:ext cx="7772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Section Divider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640080" y="2468880"/>
            <a:ext cx="7772400" cy="36576"/>
          </a:xfrm>
          <a:prstGeom prst="rect">
            <a:avLst/>
          </a:prstGeom>
          <a:solidFill>
            <a:srgbClr val="2C75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" name="Google Shape;54;p8"/>
          <p:cNvSpPr txBox="1"/>
          <p:nvPr/>
        </p:nvSpPr>
        <p:spPr>
          <a:xfrm>
            <a:off x="640080" y="1874520"/>
            <a:ext cx="7772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Section Divider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 txBox="1"/>
          <p:nvPr/>
        </p:nvSpPr>
        <p:spPr>
          <a:xfrm>
            <a:off x="640080" y="1874520"/>
            <a:ext cx="7772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Section Divider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copy">
  <p:cSld name="Header w/cop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" type="body"/>
          </p:nvPr>
        </p:nvSpPr>
        <p:spPr>
          <a:xfrm>
            <a:off x="1097280" y="1554480"/>
            <a:ext cx="6858000" cy="582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1097280" y="1188720"/>
            <a:ext cx="68580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9"/>
          <p:cNvSpPr txBox="1"/>
          <p:nvPr>
            <p:ph type="title"/>
          </p:nvPr>
        </p:nvSpPr>
        <p:spPr>
          <a:xfrm>
            <a:off x="640077" y="367401"/>
            <a:ext cx="7772400" cy="3899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bullets">
  <p:cSld name="Header w/bulle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1097280" y="1554480"/>
            <a:ext cx="6858000" cy="582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2" type="body"/>
          </p:nvPr>
        </p:nvSpPr>
        <p:spPr>
          <a:xfrm>
            <a:off x="1097280" y="1188720"/>
            <a:ext cx="68580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0"/>
          <p:cNvSpPr txBox="1"/>
          <p:nvPr>
            <p:ph type="title"/>
          </p:nvPr>
        </p:nvSpPr>
        <p:spPr>
          <a:xfrm>
            <a:off x="640079" y="367401"/>
            <a:ext cx="7772400" cy="3899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3" type="body"/>
          </p:nvPr>
        </p:nvSpPr>
        <p:spPr>
          <a:xfrm>
            <a:off x="1097281" y="2286000"/>
            <a:ext cx="6858000" cy="388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3175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wo columns">
  <p:cSld name="Header w/two 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1097280" y="1554480"/>
            <a:ext cx="3383280" cy="1205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2" type="body"/>
          </p:nvPr>
        </p:nvSpPr>
        <p:spPr>
          <a:xfrm>
            <a:off x="1097280" y="1188720"/>
            <a:ext cx="338328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1"/>
          <p:cNvSpPr txBox="1"/>
          <p:nvPr>
            <p:ph idx="3" type="body"/>
          </p:nvPr>
        </p:nvSpPr>
        <p:spPr>
          <a:xfrm>
            <a:off x="5029200" y="1554480"/>
            <a:ext cx="3383280" cy="1205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4" type="body"/>
          </p:nvPr>
        </p:nvSpPr>
        <p:spPr>
          <a:xfrm>
            <a:off x="5029200" y="1188720"/>
            <a:ext cx="338328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type="title"/>
          </p:nvPr>
        </p:nvSpPr>
        <p:spPr>
          <a:xfrm>
            <a:off x="640079" y="367401"/>
            <a:ext cx="7772400" cy="3899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  <p15:guide id="2" pos="309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one image on Left">
  <p:cSld name="Header w/one image on Lef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4572000" y="1554480"/>
            <a:ext cx="3840478" cy="1205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2" type="body"/>
          </p:nvPr>
        </p:nvSpPr>
        <p:spPr>
          <a:xfrm>
            <a:off x="4571999" y="1188720"/>
            <a:ext cx="384047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/>
          <p:nvPr>
            <p:ph idx="3" type="pic"/>
          </p:nvPr>
        </p:nvSpPr>
        <p:spPr>
          <a:xfrm>
            <a:off x="640080" y="1188720"/>
            <a:ext cx="3931920" cy="329184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83" name="Google Shape;83;p12"/>
          <p:cNvSpPr txBox="1"/>
          <p:nvPr>
            <p:ph type="title"/>
          </p:nvPr>
        </p:nvSpPr>
        <p:spPr>
          <a:xfrm>
            <a:off x="640079" y="367401"/>
            <a:ext cx="7772400" cy="3899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one image on Right">
  <p:cSld name="Header w/one image on Righ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640079" y="1554480"/>
            <a:ext cx="3840480" cy="1205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575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2" type="body"/>
          </p:nvPr>
        </p:nvSpPr>
        <p:spPr>
          <a:xfrm>
            <a:off x="640080" y="1188720"/>
            <a:ext cx="384047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575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3"/>
          <p:cNvSpPr/>
          <p:nvPr>
            <p:ph idx="3" type="pic"/>
          </p:nvPr>
        </p:nvSpPr>
        <p:spPr>
          <a:xfrm>
            <a:off x="4480559" y="1188720"/>
            <a:ext cx="3931920" cy="329184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90" name="Google Shape;90;p13"/>
          <p:cNvSpPr txBox="1"/>
          <p:nvPr>
            <p:ph type="title"/>
          </p:nvPr>
        </p:nvSpPr>
        <p:spPr>
          <a:xfrm>
            <a:off x="640079" y="367401"/>
            <a:ext cx="7772400" cy="3899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wo images">
  <p:cSld name="Header w/two image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4"/>
          <p:cNvSpPr/>
          <p:nvPr>
            <p:ph idx="2" type="pic"/>
          </p:nvPr>
        </p:nvSpPr>
        <p:spPr>
          <a:xfrm>
            <a:off x="639952" y="1188720"/>
            <a:ext cx="3749039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640080" y="3291840"/>
            <a:ext cx="37490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type="title"/>
          </p:nvPr>
        </p:nvSpPr>
        <p:spPr>
          <a:xfrm>
            <a:off x="640079" y="367401"/>
            <a:ext cx="7772400" cy="3899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/>
          <p:nvPr>
            <p:ph idx="3" type="pic"/>
          </p:nvPr>
        </p:nvSpPr>
        <p:spPr>
          <a:xfrm>
            <a:off x="4663440" y="1188720"/>
            <a:ext cx="3749039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98" name="Google Shape;98;p14"/>
          <p:cNvSpPr txBox="1"/>
          <p:nvPr>
            <p:ph idx="4" type="body"/>
          </p:nvPr>
        </p:nvSpPr>
        <p:spPr>
          <a:xfrm>
            <a:off x="4663440" y="3291840"/>
            <a:ext cx="37490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header w/two captioned images captions">
  <p:cSld name="Small header w/two captioned images caption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0" y="0"/>
            <a:ext cx="9144000" cy="11689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640079" y="3657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 Header w/two captioned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640080" y="673649"/>
            <a:ext cx="7772400" cy="36576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639950" y="4114800"/>
            <a:ext cx="3749039" cy="134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375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794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794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794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794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5"/>
          <p:cNvSpPr/>
          <p:nvPr/>
        </p:nvSpPr>
        <p:spPr>
          <a:xfrm>
            <a:off x="0" y="0"/>
            <a:ext cx="9144000" cy="11689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640079" y="3657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 Header w/two captioned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40080" y="673649"/>
            <a:ext cx="7772400" cy="36576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15"/>
          <p:cNvSpPr/>
          <p:nvPr>
            <p:ph idx="2" type="pic"/>
          </p:nvPr>
        </p:nvSpPr>
        <p:spPr>
          <a:xfrm>
            <a:off x="639951" y="1038977"/>
            <a:ext cx="3749039" cy="301752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10" name="Google Shape;110;p15"/>
          <p:cNvSpPr txBox="1"/>
          <p:nvPr>
            <p:ph idx="3" type="body"/>
          </p:nvPr>
        </p:nvSpPr>
        <p:spPr>
          <a:xfrm>
            <a:off x="4663439" y="4114800"/>
            <a:ext cx="3749039" cy="134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375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794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794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794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794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5"/>
          <p:cNvSpPr/>
          <p:nvPr>
            <p:ph idx="4" type="pic"/>
          </p:nvPr>
        </p:nvSpPr>
        <p:spPr>
          <a:xfrm>
            <a:off x="4663440" y="1038977"/>
            <a:ext cx="3749039" cy="301752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hree images">
  <p:cSld name="Header w/three image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6"/>
          <p:cNvSpPr/>
          <p:nvPr>
            <p:ph idx="2" type="pic"/>
          </p:nvPr>
        </p:nvSpPr>
        <p:spPr>
          <a:xfrm>
            <a:off x="639952" y="1188720"/>
            <a:ext cx="246888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5943600" y="329184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6"/>
          <p:cNvSpPr/>
          <p:nvPr>
            <p:ph idx="3" type="pic"/>
          </p:nvPr>
        </p:nvSpPr>
        <p:spPr>
          <a:xfrm>
            <a:off x="5943600" y="1188720"/>
            <a:ext cx="246888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18" name="Google Shape;118;p16"/>
          <p:cNvSpPr txBox="1"/>
          <p:nvPr>
            <p:ph idx="4" type="body"/>
          </p:nvPr>
        </p:nvSpPr>
        <p:spPr>
          <a:xfrm>
            <a:off x="3291840" y="329184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6"/>
          <p:cNvSpPr/>
          <p:nvPr>
            <p:ph idx="5" type="pic"/>
          </p:nvPr>
        </p:nvSpPr>
        <p:spPr>
          <a:xfrm>
            <a:off x="3291776" y="1188720"/>
            <a:ext cx="246888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20" name="Google Shape;120;p16"/>
          <p:cNvSpPr txBox="1"/>
          <p:nvPr>
            <p:ph idx="6" type="body"/>
          </p:nvPr>
        </p:nvSpPr>
        <p:spPr>
          <a:xfrm>
            <a:off x="640080" y="329184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type="title"/>
          </p:nvPr>
        </p:nvSpPr>
        <p:spPr>
          <a:xfrm>
            <a:off x="640079" y="367401"/>
            <a:ext cx="7772400" cy="3899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/wide image">
  <p:cSld name="Header/wide image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17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40080" y="365760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/>
          <p:nvPr>
            <p:ph idx="2" type="pic"/>
          </p:nvPr>
        </p:nvSpPr>
        <p:spPr>
          <a:xfrm>
            <a:off x="640080" y="1188720"/>
            <a:ext cx="7772400" cy="242316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640079" y="367401"/>
            <a:ext cx="7772400" cy="3899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er w/video">
  <p:cSld name="1_Header w/video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18"/>
          <p:cNvSpPr/>
          <p:nvPr>
            <p:ph idx="2" type="pic"/>
          </p:nvPr>
        </p:nvSpPr>
        <p:spPr>
          <a:xfrm>
            <a:off x="1828800" y="1188720"/>
            <a:ext cx="5486400" cy="301752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32" name="Google Shape;132;p18"/>
          <p:cNvSpPr txBox="1"/>
          <p:nvPr>
            <p:ph type="title"/>
          </p:nvPr>
        </p:nvSpPr>
        <p:spPr>
          <a:xfrm>
            <a:off x="640079" y="367401"/>
            <a:ext cx="7772400" cy="3899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video and copy">
  <p:cSld name="Header w/video and cop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5669280" y="155448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19"/>
          <p:cNvSpPr txBox="1"/>
          <p:nvPr>
            <p:ph idx="2" type="body"/>
          </p:nvPr>
        </p:nvSpPr>
        <p:spPr>
          <a:xfrm>
            <a:off x="5669280" y="1188720"/>
            <a:ext cx="27432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19"/>
          <p:cNvSpPr/>
          <p:nvPr>
            <p:ph idx="3" type="media"/>
          </p:nvPr>
        </p:nvSpPr>
        <p:spPr>
          <a:xfrm>
            <a:off x="640080" y="1188720"/>
            <a:ext cx="5029200" cy="2834640"/>
          </a:xfrm>
          <a:prstGeom prst="rect">
            <a:avLst/>
          </a:prstGeom>
          <a:solidFill>
            <a:srgbClr val="DBE7F5"/>
          </a:solidFill>
          <a:ln>
            <a:noFill/>
          </a:ln>
        </p:spPr>
        <p:txBody>
          <a:bodyPr anchorCtr="1" anchor="t" bIns="0" lIns="0" spcFirstLastPara="1" rIns="0" wrap="square" tIns="0">
            <a:sp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Char char="•"/>
              <a:defRPr b="0" i="0" sz="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150"/>
              <a:buFont typeface="Arial"/>
              <a:buChar char="•"/>
              <a:defRPr b="0" i="0" sz="41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type="title"/>
          </p:nvPr>
        </p:nvSpPr>
        <p:spPr>
          <a:xfrm>
            <a:off x="640079" y="367401"/>
            <a:ext cx="7772400" cy="3899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/white background">
  <p:cSld name="Statement w/white background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0" y="1"/>
            <a:ext cx="9144000" cy="45994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20"/>
          <p:cNvSpPr txBox="1"/>
          <p:nvPr>
            <p:ph idx="10" type="dt"/>
          </p:nvPr>
        </p:nvSpPr>
        <p:spPr>
          <a:xfrm>
            <a:off x="7407534" y="4754880"/>
            <a:ext cx="941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0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1371600" y="1371600"/>
            <a:ext cx="6400800" cy="1665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2774AE"/>
              </a:buClr>
              <a:buSzPts val="4000"/>
              <a:buNone/>
              <a:defRPr sz="4000">
                <a:solidFill>
                  <a:srgbClr val="2774AE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774AE"/>
              </a:buClr>
              <a:buSzPts val="4000"/>
              <a:buNone/>
              <a:defRPr sz="4000">
                <a:solidFill>
                  <a:srgbClr val="2774AE"/>
                </a:solidFill>
              </a:defRPr>
            </a:lvl2pPr>
            <a:lvl3pPr indent="-2286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774AE"/>
              </a:buClr>
              <a:buSzPts val="4000"/>
              <a:buNone/>
              <a:defRPr sz="4000">
                <a:solidFill>
                  <a:srgbClr val="2774AE"/>
                </a:solidFill>
              </a:defRPr>
            </a:lvl3pPr>
            <a:lvl4pPr indent="-2286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774AE"/>
              </a:buClr>
              <a:buSzPts val="4000"/>
              <a:buNone/>
              <a:defRPr sz="4000">
                <a:solidFill>
                  <a:srgbClr val="2774AE"/>
                </a:solidFill>
              </a:defRPr>
            </a:lvl4pPr>
            <a:lvl5pPr indent="-2286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774AE"/>
              </a:buClr>
              <a:buSzPts val="4000"/>
              <a:buNone/>
              <a:defRPr sz="4000">
                <a:solidFill>
                  <a:srgbClr val="2774AE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42900" y="4724784"/>
            <a:ext cx="423229" cy="1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"/>
          <p:cNvSpPr/>
          <p:nvPr/>
        </p:nvSpPr>
        <p:spPr>
          <a:xfrm>
            <a:off x="640080" y="821642"/>
            <a:ext cx="7772400" cy="36576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2;p4"/>
          <p:cNvSpPr txBox="1"/>
          <p:nvPr>
            <p:ph type="title"/>
          </p:nvPr>
        </p:nvSpPr>
        <p:spPr>
          <a:xfrm>
            <a:off x="640079" y="367401"/>
            <a:ext cx="7772400" cy="3899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2" type="sldNum"/>
          </p:nvPr>
        </p:nvSpPr>
        <p:spPr>
          <a:xfrm>
            <a:off x="8686800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4"/>
          <p:cNvSpPr txBox="1"/>
          <p:nvPr/>
        </p:nvSpPr>
        <p:spPr>
          <a:xfrm>
            <a:off x="1097280" y="4773168"/>
            <a:ext cx="265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Statistics &amp; Data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1097280" y="1188720"/>
            <a:ext cx="7315199" cy="117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5715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3495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Char char="•"/>
              <a:defRPr b="0" i="0" sz="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92125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150"/>
              <a:buFont typeface="Arial"/>
              <a:buChar char="•"/>
              <a:defRPr b="0" i="0" sz="41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"/>
          <p:cNvSpPr txBox="1"/>
          <p:nvPr>
            <p:ph idx="9" type="body"/>
          </p:nvPr>
        </p:nvSpPr>
        <p:spPr>
          <a:xfrm>
            <a:off x="640080" y="1892808"/>
            <a:ext cx="77724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</a:pPr>
            <a:r>
              <a:rPr lang="en-US" sz="3100"/>
              <a:t>Enhancing Anti-Money Laundering (AML) Detection via Graph Neural Networks </a:t>
            </a:r>
            <a:endParaRPr sz="32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</a:pPr>
            <a:r>
              <a:t/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2"/>
          <p:cNvSpPr txBox="1"/>
          <p:nvPr>
            <p:ph type="title"/>
          </p:nvPr>
        </p:nvSpPr>
        <p:spPr>
          <a:xfrm>
            <a:off x="640079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Project Intro &amp; Team</a:t>
            </a:r>
            <a:endParaRPr/>
          </a:p>
        </p:txBody>
      </p:sp>
      <p:sp>
        <p:nvSpPr>
          <p:cNvPr id="156" name="Google Shape;156;p2"/>
          <p:cNvSpPr txBox="1"/>
          <p:nvPr/>
        </p:nvSpPr>
        <p:spPr>
          <a:xfrm>
            <a:off x="694050" y="1026800"/>
            <a:ext cx="7929300" cy="3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a </a:t>
            </a: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 Neural Network (GNN)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outperform traditional machine learning and rule-based systems in identifying illicit transactions by capturing the ‘network’ structure of financial transactions?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●"/>
            </a:pP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Members: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Sarthak Mohindru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Modelling + Results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Kasyap Bendapudi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Wrangling + Modelling 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Vincent Nguyen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Data Wrangling + Modelling + Results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Vinod Srinivasan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Modelling + Experiments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e10b0eb56_0_8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g3ce10b0eb56_0_8"/>
          <p:cNvSpPr txBox="1"/>
          <p:nvPr>
            <p:ph type="title"/>
          </p:nvPr>
        </p:nvSpPr>
        <p:spPr>
          <a:xfrm>
            <a:off x="640079" y="367401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Overview</a:t>
            </a:r>
            <a:endParaRPr/>
          </a:p>
        </p:txBody>
      </p:sp>
      <p:pic>
        <p:nvPicPr>
          <p:cNvPr id="164" name="Google Shape;164;g3ce10b0eb56_0_8" title="Money_Laundering_Cyc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600" y="1468850"/>
            <a:ext cx="3632299" cy="2435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" name="Google Shape;165;g3ce10b0eb56_0_8"/>
          <p:cNvSpPr txBox="1"/>
          <p:nvPr/>
        </p:nvSpPr>
        <p:spPr>
          <a:xfrm>
            <a:off x="694050" y="1026800"/>
            <a:ext cx="4444800" cy="3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●"/>
            </a:pPr>
            <a:r>
              <a:rPr b="1" lang="en-US" u="sng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Objective: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Using a graph neural network, </a:t>
            </a: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classify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which among millions of transactions are involved in money laundering!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●"/>
            </a:pPr>
            <a:r>
              <a:rPr b="1" lang="en-US" u="sng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Motivation: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Money laundering disrupts not only the economy but also trust in the fairness of banking systems and government institutions. 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●"/>
            </a:pPr>
            <a:r>
              <a:rPr b="1" lang="en-US" u="sng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Evaluation Metric: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>
                <a:solidFill>
                  <a:srgbClr val="2774A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F1 Score</a:t>
            </a:r>
            <a:endParaRPr b="1">
              <a:solidFill>
                <a:srgbClr val="2774A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Addresses class imbalance (i.e., rare fraud events)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Balances </a:t>
            </a: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precision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recall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8595B"/>
              </a:solidFill>
              <a:highlight>
                <a:srgbClr val="FFFF00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ff30ca65b_0_0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g39ff30ca65b_0_0"/>
          <p:cNvSpPr txBox="1"/>
          <p:nvPr>
            <p:ph type="title"/>
          </p:nvPr>
        </p:nvSpPr>
        <p:spPr>
          <a:xfrm>
            <a:off x="640079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Dataset </a:t>
            </a:r>
            <a:endParaRPr/>
          </a:p>
        </p:txBody>
      </p:sp>
      <p:graphicFrame>
        <p:nvGraphicFramePr>
          <p:cNvPr id="173" name="Google Shape;173;g39ff30ca65b_0_0"/>
          <p:cNvGraphicFramePr/>
          <p:nvPr/>
        </p:nvGraphicFramePr>
        <p:xfrm>
          <a:off x="640080" y="94759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{5BB6FA3C-E987-4C93-9B56-3DDFC1A0D2A4}</a:tableStyleId>
              </a:tblPr>
              <a:tblGrid>
                <a:gridCol w="999200"/>
                <a:gridCol w="921100"/>
              </a:tblGrid>
              <a:tr h="39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Feature</a:t>
                      </a:r>
                      <a:endParaRPr sz="1000" u="none" cap="none" strike="noStrike"/>
                    </a:p>
                  </a:txBody>
                  <a:tcPr marT="0" marB="0" marR="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 </a:t>
                      </a:r>
                      <a:r>
                        <a:rPr b="1" i="0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ype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</a:tr>
              <a:tr h="36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Time Stamp</a:t>
                      </a:r>
                      <a:endParaRPr sz="1000" u="none" cap="none" strike="noStrike"/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Datetime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Bank </a:t>
                      </a:r>
                      <a:endParaRPr sz="1000" u="none" cap="none" strike="noStrike"/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Categorical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Account</a:t>
                      </a:r>
                      <a:endParaRPr sz="1000" u="none" cap="none" strike="noStrike">
                        <a:solidFill>
                          <a:srgbClr val="2774AE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Categorical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Currency</a:t>
                      </a:r>
                      <a:endParaRPr sz="1000" u="none" cap="none" strike="noStrike"/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Numeric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Amount</a:t>
                      </a:r>
                      <a:endParaRPr sz="1000" u="none" cap="none" strike="noStrike"/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Categorical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 Format</a:t>
                      </a:r>
                      <a:endParaRPr sz="1000" u="none" cap="none" strike="noStrike"/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Categorial 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Fraud</a:t>
                      </a:r>
                      <a:endParaRPr b="1"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7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Categorical</a:t>
                      </a:r>
                      <a:endParaRPr b="1"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7F5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g39ff30ca65b_0_0"/>
          <p:cNvSpPr txBox="1"/>
          <p:nvPr/>
        </p:nvSpPr>
        <p:spPr>
          <a:xfrm>
            <a:off x="640075" y="4195925"/>
            <a:ext cx="3906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1: </a:t>
            </a:r>
            <a:r>
              <a:rPr lang="en-US" sz="10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Original dataset features</a:t>
            </a:r>
            <a:endParaRPr b="0" i="0" sz="1000" u="none" cap="none" strike="noStrike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75" name="Google Shape;175;g39ff30ca65b_0_0"/>
          <p:cNvGraphicFramePr/>
          <p:nvPr/>
        </p:nvGraphicFramePr>
        <p:xfrm>
          <a:off x="3611855" y="94759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{5BB6FA3C-E987-4C93-9B56-3DDFC1A0D2A4}</a:tableStyleId>
              </a:tblPr>
              <a:tblGrid>
                <a:gridCol w="1093425"/>
                <a:gridCol w="826875"/>
              </a:tblGrid>
              <a:tr h="380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 Set Split</a:t>
                      </a:r>
                      <a:endParaRPr sz="1000" u="none" cap="none" strike="noStrike"/>
                    </a:p>
                  </a:txBody>
                  <a:tcPr marT="0" marB="0" marR="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Number of Examples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</a:tr>
              <a:tr h="380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Training Set</a:t>
                      </a:r>
                      <a:endParaRPr sz="1000" u="none" cap="none" strike="noStrike"/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/>
                        <a:t>~3.5M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Validation Set</a:t>
                      </a:r>
                      <a:endParaRPr sz="1000" u="none" cap="none" strike="noStrike"/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/>
                        <a:t>~0.5M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Test Set</a:t>
                      </a:r>
                      <a:endParaRPr sz="1000" u="none" cap="none" strike="noStrike">
                        <a:solidFill>
                          <a:srgbClr val="2774AE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/>
                        <a:t>~1.1M</a:t>
                      </a:r>
                      <a:endParaRPr sz="1000" u="none" cap="none" strike="noStrike">
                        <a:solidFill>
                          <a:srgbClr val="2774AE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Total</a:t>
                      </a:r>
                      <a:endParaRPr b="1" sz="1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7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~5.1M</a:t>
                      </a:r>
                      <a:endParaRPr b="1"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7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6" name="Google Shape;176;g39ff30ca65b_0_0"/>
          <p:cNvGraphicFramePr/>
          <p:nvPr/>
        </p:nvGraphicFramePr>
        <p:xfrm>
          <a:off x="6492180" y="94759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{5BB6FA3C-E987-4C93-9B56-3DDFC1A0D2A4}</a:tableStyleId>
              </a:tblPr>
              <a:tblGrid>
                <a:gridCol w="1093425"/>
                <a:gridCol w="826875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Class</a:t>
                      </a:r>
                      <a:endParaRPr sz="1000" u="none" cap="none" strike="noStrike"/>
                    </a:p>
                  </a:txBody>
                  <a:tcPr marT="0" marB="0" marR="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Relative Frequency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</a:tr>
              <a:tr h="380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 (not fraud)</a:t>
                      </a:r>
                      <a:endParaRPr sz="1000" u="none" cap="none" strike="noStrike"/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/>
                        <a:t>~99.2%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(fraud)</a:t>
                      </a:r>
                      <a:endParaRPr b="1" sz="1000" u="none" cap="none" strike="noStrike"/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7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000"/>
                        <a:t>~0.8%</a:t>
                      </a:r>
                      <a:endParaRPr b="1"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7F5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g39ff30ca65b_0_0"/>
          <p:cNvSpPr txBox="1"/>
          <p:nvPr/>
        </p:nvSpPr>
        <p:spPr>
          <a:xfrm>
            <a:off x="4246325" y="4322025"/>
            <a:ext cx="28551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g39ff30ca65b_0_0"/>
          <p:cNvSpPr txBox="1"/>
          <p:nvPr/>
        </p:nvSpPr>
        <p:spPr>
          <a:xfrm>
            <a:off x="3611850" y="3430150"/>
            <a:ext cx="4296300" cy="1320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IBM’s Synthetic Transaction Dataset for AML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●"/>
            </a:pP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type: graph-structured data</a:t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○"/>
            </a:pP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Nodes: accounts (holder info.)</a:t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○"/>
            </a:pP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Edges: transactions (amount, currency, payment format, time stamp, etc.)</a:t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g39ff30ca65b_0_0"/>
          <p:cNvSpPr txBox="1"/>
          <p:nvPr/>
        </p:nvSpPr>
        <p:spPr>
          <a:xfrm>
            <a:off x="3611850" y="3042250"/>
            <a:ext cx="3906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</a:t>
            </a:r>
            <a:r>
              <a:rPr lang="en-US" sz="10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0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Train/val/test split</a:t>
            </a:r>
            <a:endParaRPr b="0" i="0" sz="1000" u="none" cap="none" strike="noStrike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" name="Google Shape;180;g39ff30ca65b_0_0"/>
          <p:cNvSpPr txBox="1"/>
          <p:nvPr/>
        </p:nvSpPr>
        <p:spPr>
          <a:xfrm>
            <a:off x="6492175" y="2344700"/>
            <a:ext cx="3906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</a:t>
            </a:r>
            <a:r>
              <a:rPr lang="en-US" sz="10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10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 distribution</a:t>
            </a:r>
            <a:endParaRPr b="0" i="0" sz="1000" u="none" cap="none" strike="noStrike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d75d343c2_0_8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g3cd75d343c2_0_8"/>
          <p:cNvSpPr txBox="1"/>
          <p:nvPr>
            <p:ph type="title"/>
          </p:nvPr>
        </p:nvSpPr>
        <p:spPr>
          <a:xfrm>
            <a:off x="640079" y="367401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Baseline </a:t>
            </a:r>
            <a:r>
              <a:rPr lang="en-US"/>
              <a:t>Architectures</a:t>
            </a:r>
            <a:endParaRPr/>
          </a:p>
        </p:txBody>
      </p:sp>
      <p:sp>
        <p:nvSpPr>
          <p:cNvPr id="188" name="Google Shape;188;g3cd75d343c2_0_8"/>
          <p:cNvSpPr txBox="1"/>
          <p:nvPr/>
        </p:nvSpPr>
        <p:spPr>
          <a:xfrm>
            <a:off x="694050" y="1026800"/>
            <a:ext cx="7929300" cy="3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●"/>
            </a:pP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Minimum Benchmark: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XGboost + Graph Features (“GF”)</a:t>
            </a:r>
            <a:r>
              <a:rPr b="1" lang="en-US">
                <a:solidFill>
                  <a:srgbClr val="2C75A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>
              <a:solidFill>
                <a:srgbClr val="2C75A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Strong tabular baseline widely used in fraud detection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Incorporates hand-engineered graph features (degree, transaction frequency, neighborhood statistics) + other transaction related 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engineered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features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●"/>
            </a:pP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Baseline: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2-Layer Graph Neural Network (GNN)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Principal Neighbourhood Aggregation (PNA)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Directly learns from graph structure rather than relying on engineered features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Captures local neighborhood transaction patterns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PNA uses multiple aggregation functions (mean, min, max, std) to capture richer neighborhood statistics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PNA rescales messages based on degree, so no node dominates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●"/>
            </a:pP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Baseline: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 Transformer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Uses attention mechanisms to model complex relationships across accounts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○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Captures long-range dependencies in transaction networks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e73a120dd_0_930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g3ce73a120dd_0_930"/>
          <p:cNvSpPr txBox="1"/>
          <p:nvPr>
            <p:ph type="title"/>
          </p:nvPr>
        </p:nvSpPr>
        <p:spPr>
          <a:xfrm>
            <a:off x="640079" y="367401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Architecture: 2 Layer GNN + PNA Overview</a:t>
            </a:r>
            <a:endParaRPr/>
          </a:p>
        </p:txBody>
      </p:sp>
      <p:pic>
        <p:nvPicPr>
          <p:cNvPr id="196" name="Google Shape;196;g3ce73a120dd_0_930" title="Gemini_Generated_Image_au6mbuau6mbuau6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00" y="1353225"/>
            <a:ext cx="8923923" cy="280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d75d343c2_0_14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g3cd75d343c2_0_14"/>
          <p:cNvSpPr txBox="1"/>
          <p:nvPr>
            <p:ph type="title"/>
          </p:nvPr>
        </p:nvSpPr>
        <p:spPr>
          <a:xfrm>
            <a:off x="640079" y="367401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Architecture: 2 Layer GNN + PNA </a:t>
            </a:r>
            <a:endParaRPr/>
          </a:p>
        </p:txBody>
      </p:sp>
      <p:sp>
        <p:nvSpPr>
          <p:cNvPr id="204" name="Google Shape;204;g3cd75d343c2_0_14"/>
          <p:cNvSpPr txBox="1"/>
          <p:nvPr/>
        </p:nvSpPr>
        <p:spPr>
          <a:xfrm>
            <a:off x="865500" y="1124300"/>
            <a:ext cx="7988700" cy="3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Layer-by-layer Summary:</a:t>
            </a:r>
            <a:r>
              <a:rPr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Char char="○"/>
            </a:pPr>
            <a:r>
              <a:rPr lang="en-US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-&gt; PNAConv (#_Node_Features, 64) -&gt; BatchNorm -&gt; …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-&gt; Linear ((64 * 2) + #_Edge_Features, 128) -&gt; BatchNorm1D(128) -&gt; LeakyReLU(0.1) 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-&gt; Dropout(0.3) -&gt; … -&gt; Linear(64, 1) -&gt; Softmax 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300"/>
              <a:buFont typeface="Helvetica Neue"/>
              <a:buChar char="●"/>
            </a:pPr>
            <a:r>
              <a:rPr b="1"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Hyperparameters: </a:t>
            </a:r>
            <a:r>
              <a:rPr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Epochs = 80,</a:t>
            </a:r>
            <a:r>
              <a:rPr b="1"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Batch Size = 4096, Learning Rate = 0.001, Hidden Dim. = 64</a:t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300"/>
              <a:buFont typeface="Helvetica Neue"/>
              <a:buChar char="●"/>
            </a:pPr>
            <a:r>
              <a:rPr b="1"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Regularization: </a:t>
            </a:r>
            <a:r>
              <a:rPr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Dropout (0.3), Batch Normalization, L2 Regularization</a:t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300"/>
              <a:buFont typeface="Helvetica Neue"/>
              <a:buChar char="●"/>
            </a:pPr>
            <a:r>
              <a:rPr b="1"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preprocessing &amp; augmentation: </a:t>
            </a:r>
            <a:r>
              <a:rPr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One-hot encoding, extensive feature engineering, undersampling of the majority class</a:t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5" name="Google Shape;205;g3cd75d343c2_0_14" title="Gemini_Generated_Image_1gc8wy1gc8wy1gc8.png"/>
          <p:cNvPicPr preferRelativeResize="0"/>
          <p:nvPr/>
        </p:nvPicPr>
        <p:blipFill rotWithShape="1">
          <a:blip r:embed="rId3">
            <a:alphaModFix/>
          </a:blip>
          <a:srcRect b="0" l="0" r="0" t="15419"/>
          <a:stretch/>
        </p:blipFill>
        <p:spPr>
          <a:xfrm>
            <a:off x="1136425" y="1533550"/>
            <a:ext cx="5146323" cy="132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d75d343c2_0_23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g3cd75d343c2_0_23"/>
          <p:cNvSpPr txBox="1"/>
          <p:nvPr>
            <p:ph type="title"/>
          </p:nvPr>
        </p:nvSpPr>
        <p:spPr>
          <a:xfrm>
            <a:off x="640079" y="367401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lang="en-US" sz="2400"/>
              <a:t>Architecture: Custom Graph Transformer (FraudGT)</a:t>
            </a:r>
            <a:endParaRPr sz="2400"/>
          </a:p>
        </p:txBody>
      </p:sp>
      <p:sp>
        <p:nvSpPr>
          <p:cNvPr id="213" name="Google Shape;213;g3cd75d343c2_0_23"/>
          <p:cNvSpPr txBox="1"/>
          <p:nvPr/>
        </p:nvSpPr>
        <p:spPr>
          <a:xfrm>
            <a:off x="865375" y="876300"/>
            <a:ext cx="7547100" cy="3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Structural Innovations over Vanilla GAT:</a:t>
            </a:r>
            <a:endParaRPr b="1"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300"/>
              <a:buFont typeface="Helvetica Neue"/>
              <a:buChar char="●"/>
            </a:pPr>
            <a:r>
              <a:rPr b="1"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Adds Edge Bias to Attention:</a:t>
            </a:r>
            <a:r>
              <a:rPr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Injects edge features like transaction details (e.g., amounts, time) directly into the attention score to highlight suspicious activity.</a:t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300"/>
              <a:buFont typeface="Helvetica Neue"/>
              <a:buChar char="●"/>
            </a:pPr>
            <a:r>
              <a:rPr b="1"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Adds Edge Gate :</a:t>
            </a:r>
            <a:r>
              <a:rPr lang="en-US" sz="13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learned filter that automatically blocks out normal noise and amplifies strong fraud signals using a sigmoid activation</a:t>
            </a:r>
            <a:endParaRPr sz="13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4" name="Google Shape;214;g3cd75d343c2_0_23" title="Screenshot 2026-03-09 at 11.34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4900" y="1767249"/>
            <a:ext cx="3774201" cy="5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cd75d343c2_0_23" title="Gemini_Generated_Image_mopmwmopmwmopmw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7675" y="2810825"/>
            <a:ext cx="4897194" cy="181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e73a120dd_0_919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g3ce73a120dd_0_919"/>
          <p:cNvSpPr txBox="1"/>
          <p:nvPr>
            <p:ph type="title"/>
          </p:nvPr>
        </p:nvSpPr>
        <p:spPr>
          <a:xfrm>
            <a:off x="640075" y="367400"/>
            <a:ext cx="8293500" cy="33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Architecture: Custom Graph Transformer (FraudGT)</a:t>
            </a:r>
            <a:endParaRPr sz="2600"/>
          </a:p>
        </p:txBody>
      </p:sp>
      <p:sp>
        <p:nvSpPr>
          <p:cNvPr id="223" name="Google Shape;223;g3ce73a120dd_0_919"/>
          <p:cNvSpPr txBox="1"/>
          <p:nvPr/>
        </p:nvSpPr>
        <p:spPr>
          <a:xfrm>
            <a:off x="694050" y="1026800"/>
            <a:ext cx="7929300" cy="3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</a:t>
            </a: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Comparison</a:t>
            </a:r>
            <a:r>
              <a:rPr b="1"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1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24" name="Google Shape;224;g3ce73a120dd_0_919"/>
          <p:cNvGraphicFramePr/>
          <p:nvPr/>
        </p:nvGraphicFramePr>
        <p:xfrm>
          <a:off x="1171330" y="144132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{5BB6FA3C-E987-4C93-9B56-3DDFC1A0D2A4}</a:tableStyleId>
              </a:tblPr>
              <a:tblGrid>
                <a:gridCol w="2718850"/>
                <a:gridCol w="2056025"/>
                <a:gridCol w="2056025"/>
              </a:tblGrid>
              <a:tr h="28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Metric</a:t>
                      </a:r>
                      <a:endParaRPr sz="1000" u="none" cap="none" strike="noStrike"/>
                    </a:p>
                  </a:txBody>
                  <a:tcPr marT="0" marB="0" marR="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>Graph Transformer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PNA GNN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</a:tr>
              <a:tr h="609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Trainable </a:t>
                      </a: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Parameters</a:t>
                      </a:r>
                      <a:endParaRPr sz="1000" u="none" cap="none" strike="noStrike"/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/>
                        <a:t>49,985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                                            146,705</a:t>
                      </a:r>
                      <a:endParaRPr sz="10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Epochs</a:t>
                      </a:r>
                      <a:endParaRPr sz="1000" u="none" cap="none" strike="noStrike"/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/>
                        <a:t>51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80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Learning Rate</a:t>
                      </a:r>
                      <a:endParaRPr sz="1000" u="none" cap="none" strike="noStrike">
                        <a:solidFill>
                          <a:srgbClr val="2774AE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/>
                        <a:t>0.001</a:t>
                      </a:r>
                      <a:endParaRPr sz="1000" u="none" cap="none" strike="noStrike">
                        <a:solidFill>
                          <a:srgbClr val="2774AE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0.001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Regularization Technique</a:t>
                      </a:r>
                      <a:endParaRPr sz="1000">
                        <a:solidFill>
                          <a:srgbClr val="2774AE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Dropout (0.2)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Dropout (0.3) &amp; L2 Regularization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Gradient Flow &amp; </a:t>
                      </a: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Stabilization Techniques</a:t>
                      </a:r>
                      <a:endParaRPr sz="1000">
                        <a:solidFill>
                          <a:srgbClr val="2774AE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-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Batch Normalization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54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Batching Strategy</a:t>
                      </a:r>
                      <a:endParaRPr sz="1000">
                        <a:solidFill>
                          <a:srgbClr val="2774AE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Neighborhood Sampling</a:t>
                      </a:r>
                      <a:r>
                        <a:rPr lang="en-US" sz="1000"/>
                        <a:t>: Extracts 2-hop local subgraphs (50 immediate, 50 secondary neighbors) to efficiently train the model on batches of </a:t>
                      </a:r>
                      <a:r>
                        <a:rPr b="1" lang="en-US" sz="1000"/>
                        <a:t> 2,048 </a:t>
                      </a:r>
                      <a:r>
                        <a:rPr lang="en-US" sz="1000"/>
                        <a:t> transactions without OOM issues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Neighborhood Sampling</a:t>
                      </a:r>
                      <a:r>
                        <a:rPr lang="en-US" sz="1000"/>
                        <a:t>: Extracts 2-hop local subgraphs (25 immediate, 15 secondary neighbors) to efficiently train the model on batches of </a:t>
                      </a:r>
                      <a:r>
                        <a:rPr b="1" lang="en-US" sz="1000"/>
                        <a:t>4,096</a:t>
                      </a:r>
                      <a:r>
                        <a:rPr lang="en-US" sz="1000"/>
                        <a:t> transactions without OOM issues 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d75d343c2_0_32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g3cd75d343c2_0_32"/>
          <p:cNvSpPr txBox="1"/>
          <p:nvPr>
            <p:ph type="title"/>
          </p:nvPr>
        </p:nvSpPr>
        <p:spPr>
          <a:xfrm>
            <a:off x="640079" y="367401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(Metrics)</a:t>
            </a:r>
            <a:endParaRPr/>
          </a:p>
        </p:txBody>
      </p:sp>
      <p:sp>
        <p:nvSpPr>
          <p:cNvPr id="232" name="Google Shape;232;g3cd75d343c2_0_32"/>
          <p:cNvSpPr txBox="1"/>
          <p:nvPr/>
        </p:nvSpPr>
        <p:spPr>
          <a:xfrm>
            <a:off x="694050" y="1026800"/>
            <a:ext cx="7929300" cy="3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33" name="Google Shape;233;g3cd75d343c2_0_32"/>
          <p:cNvGraphicFramePr/>
          <p:nvPr/>
        </p:nvGraphicFramePr>
        <p:xfrm>
          <a:off x="1132930" y="135447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{5BB6FA3C-E987-4C93-9B56-3DDFC1A0D2A4}</a:tableStyleId>
              </a:tblPr>
              <a:tblGrid>
                <a:gridCol w="1588925"/>
                <a:gridCol w="1201625"/>
                <a:gridCol w="1201625"/>
                <a:gridCol w="1201625"/>
                <a:gridCol w="1201625"/>
              </a:tblGrid>
              <a:tr h="55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Model</a:t>
                      </a:r>
                      <a:endParaRPr sz="1200" u="none" cap="none" strike="noStrike"/>
                    </a:p>
                  </a:txBody>
                  <a:tcPr marT="0" marB="0" marR="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Precision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Recall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F1 Score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 AUC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</a:tr>
              <a:tr h="55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XGBoost</a:t>
                      </a:r>
                      <a:endParaRPr sz="1200" u="none" cap="none" strike="noStrike"/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0.59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0.41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0.48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0.45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Fraud GT</a:t>
                      </a:r>
                      <a:endParaRPr sz="1200" u="none" cap="none" strike="noStrike">
                        <a:solidFill>
                          <a:srgbClr val="2774AE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0.5</a:t>
                      </a:r>
                      <a:endParaRPr sz="1200" u="none" cap="none" strike="noStrike">
                        <a:solidFill>
                          <a:srgbClr val="2774AE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0.24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0.32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0.38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1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MultiPNA GNN</a:t>
                      </a:r>
                      <a:endParaRPr b="1" sz="12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3657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7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0.73</a:t>
                      </a:r>
                      <a:endParaRPr b="1"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7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0.45</a:t>
                      </a:r>
                      <a:endParaRPr b="1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7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0.56</a:t>
                      </a:r>
                      <a:endParaRPr b="1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7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0.48</a:t>
                      </a:r>
                      <a:endParaRPr b="1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e9e6028ec_4_0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g3ce9e6028ec_4_0"/>
          <p:cNvSpPr txBox="1"/>
          <p:nvPr>
            <p:ph type="title"/>
          </p:nvPr>
        </p:nvSpPr>
        <p:spPr>
          <a:xfrm>
            <a:off x="640079" y="367401"/>
            <a:ext cx="7772400" cy="775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(Plots: MultiPNA)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g3ce9e6028ec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143776"/>
            <a:ext cx="7772402" cy="2855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e9e6028ec_1_0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g3ce9e6028ec_1_0"/>
          <p:cNvSpPr txBox="1"/>
          <p:nvPr>
            <p:ph type="title"/>
          </p:nvPr>
        </p:nvSpPr>
        <p:spPr>
          <a:xfrm>
            <a:off x="640079" y="367401"/>
            <a:ext cx="7772400" cy="775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(Plots: XGBoost)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g3ce9e6028ec_1_0" title="Figure 2026-03-10 0917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202550"/>
            <a:ext cx="7772399" cy="2738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e73a120dd_1_6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g3ce73a120dd_1_6"/>
          <p:cNvSpPr txBox="1"/>
          <p:nvPr>
            <p:ph type="title"/>
          </p:nvPr>
        </p:nvSpPr>
        <p:spPr>
          <a:xfrm>
            <a:off x="640079" y="367401"/>
            <a:ext cx="7772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(Analysis &amp; Ablations)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256" name="Google Shape;256;g3ce73a120dd_1_6"/>
          <p:cNvSpPr txBox="1"/>
          <p:nvPr/>
        </p:nvSpPr>
        <p:spPr>
          <a:xfrm>
            <a:off x="694050" y="847725"/>
            <a:ext cx="7929300" cy="3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AutoNum type="arabicPeriod"/>
            </a:pP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preprocessing: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Compared </a:t>
            </a: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XGBoost + engineered graph features </a:t>
            </a: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 </a:t>
            </a: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MultiPNA GNN</a:t>
            </a:r>
            <a:endParaRPr b="1"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MultiPNA</a:t>
            </a: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F1</a:t>
            </a: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0.56 vs </a:t>
            </a: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XGBoost</a:t>
            </a: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F1</a:t>
            </a: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0.48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PR-AUC</a:t>
            </a: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0.48 vs 0.45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Takeaway</a:t>
            </a: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Learning directly from graph structure improves fraud detection over hand-engineered features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AutoNum type="arabicPeriod"/>
            </a:pP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Effects of regularization:</a:t>
            </a:r>
            <a:endParaRPr b="1"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Baseline: Dropout (0.2), no BatchNorm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Final: Dropout (0.3) + BatchNorm + L2 regularization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Improved training stability and reduced overfitting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Takeaway</a:t>
            </a: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Regularization helps stabilize deeper GNN training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AutoNum type="arabicPeriod"/>
            </a:pP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Architecture:</a:t>
            </a:r>
            <a:endParaRPr b="1"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Compared</a:t>
            </a: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Graph Transformer vs MultiPNA GNN</a:t>
            </a:r>
            <a:endParaRPr b="1"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MultiPNA achieved best performance: F1 </a:t>
            </a: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0.56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Transformer underperformed partly due to fewer trainable parameters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Takeaway: </a:t>
            </a: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PNA better captures local transaction patterns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AutoNum type="arabicPeriod"/>
            </a:pPr>
            <a:r>
              <a:rPr b="1"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Failure Modes (Common Errors):</a:t>
            </a:r>
            <a:endParaRPr b="1"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 laundering transactions resemble legitimate activity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accounts with limited transaction history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100"/>
              <a:buFont typeface="Helvetica Neue"/>
              <a:buChar char="○"/>
            </a:pPr>
            <a:r>
              <a:rPr lang="en-US" sz="11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Slow laundering chains spread across longer time periods</a:t>
            </a:r>
            <a:endParaRPr sz="11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e73a120dd_1_0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g3ce73a120dd_1_0"/>
          <p:cNvSpPr txBox="1"/>
          <p:nvPr>
            <p:ph type="title"/>
          </p:nvPr>
        </p:nvSpPr>
        <p:spPr>
          <a:xfrm>
            <a:off x="640079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Discussion: What did we learn?</a:t>
            </a:r>
            <a:endParaRPr/>
          </a:p>
        </p:txBody>
      </p:sp>
      <p:sp>
        <p:nvSpPr>
          <p:cNvPr id="263" name="Google Shape;263;g3ce73a120dd_1_0"/>
          <p:cNvSpPr txBox="1"/>
          <p:nvPr/>
        </p:nvSpPr>
        <p:spPr>
          <a:xfrm>
            <a:off x="694050" y="1026800"/>
            <a:ext cx="7929300" cy="3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●"/>
            </a:pPr>
            <a:r>
              <a:rPr b="1"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Verdict: </a:t>
            </a:r>
            <a:r>
              <a:rPr b="1" lang="en-US" sz="1200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GNNs Drive Value</a:t>
            </a:r>
            <a:endParaRPr b="1" sz="1200">
              <a:solidFill>
                <a:srgbClr val="0B539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○"/>
            </a:pP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 models successfully capture complex structural patterns, outperforming traditional ML baselines like XGBoost </a:t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●"/>
            </a:pPr>
            <a:r>
              <a:rPr b="1"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findings: </a:t>
            </a:r>
            <a:r>
              <a:rPr b="1" lang="en-US" sz="1200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MultiPNA GNN Excels</a:t>
            </a:r>
            <a:endParaRPr b="1" sz="1200">
              <a:solidFill>
                <a:srgbClr val="0B539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○"/>
            </a:pP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MultiPNA architecture emerged as the clear winner. Its ability to use multiple aggregators (mean, min, max, std) proved vastly superior to the Graph Transformer for our dataset</a:t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●"/>
            </a:pPr>
            <a:r>
              <a:rPr b="1"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Limitations:</a:t>
            </a:r>
            <a:endParaRPr b="1"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○"/>
            </a:pPr>
            <a:r>
              <a:rPr b="1"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Computational Bottlenecks</a:t>
            </a: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graph’s large size would result in OOM errors during runtime.</a:t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○"/>
            </a:pPr>
            <a:r>
              <a:rPr b="1"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Extreme Imbalance:</a:t>
            </a: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~0.80% of the observations were involved in money laundering.</a:t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○"/>
            </a:pP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sampling technique LinkNeighborLoader() presented library installation issues.</a:t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●"/>
            </a:pPr>
            <a:r>
              <a:rPr b="1"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work:</a:t>
            </a:r>
            <a:endParaRPr b="1"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○"/>
            </a:pP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better ways of addressing class imbalance during sampling.</a:t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○"/>
            </a:pP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Engineer richer temporal features to improve model generalization.</a:t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200"/>
              <a:buFont typeface="Helvetica Neue"/>
              <a:buChar char="○"/>
            </a:pP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Transition to robust mini-batch training to seamlessly scale these GNN architectures</a:t>
            </a:r>
            <a:endParaRPr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e9e6028ec_2_0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g3ce9e6028ec_2_0"/>
          <p:cNvSpPr txBox="1"/>
          <p:nvPr>
            <p:ph type="title"/>
          </p:nvPr>
        </p:nvSpPr>
        <p:spPr>
          <a:xfrm>
            <a:off x="640079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275" name="Google Shape;275;g3ce9e6028ec_2_0"/>
          <p:cNvSpPr txBox="1"/>
          <p:nvPr/>
        </p:nvSpPr>
        <p:spPr>
          <a:xfrm>
            <a:off x="694050" y="1026800"/>
            <a:ext cx="7929300" cy="3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6" name="Google Shape;276;g3ce9e6028ec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0013" y="1218875"/>
            <a:ext cx="5968870" cy="33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ce9e6028ec_2_0"/>
          <p:cNvSpPr txBox="1"/>
          <p:nvPr/>
        </p:nvSpPr>
        <p:spPr>
          <a:xfrm>
            <a:off x="1560950" y="875488"/>
            <a:ext cx="1691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MultiPNA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esentation-01-light">
  <a:themeElements>
    <a:clrScheme name="Brand-01-Colors">
      <a:dk1>
        <a:srgbClr val="57585B"/>
      </a:dk1>
      <a:lt1>
        <a:srgbClr val="FFFFFF"/>
      </a:lt1>
      <a:dk2>
        <a:srgbClr val="2774AE"/>
      </a:dk2>
      <a:lt2>
        <a:srgbClr val="FFFFFF"/>
      </a:lt2>
      <a:accent1>
        <a:srgbClr val="2774AE"/>
      </a:accent1>
      <a:accent2>
        <a:srgbClr val="898989"/>
      </a:accent2>
      <a:accent3>
        <a:srgbClr val="DAE6F4"/>
      </a:accent3>
      <a:accent4>
        <a:srgbClr val="8AB8E8"/>
      </a:accent4>
      <a:accent5>
        <a:srgbClr val="FFC72B"/>
      </a:accent5>
      <a:accent6>
        <a:srgbClr val="00375B"/>
      </a:accent6>
      <a:hlink>
        <a:srgbClr val="00375B"/>
      </a:hlink>
      <a:folHlink>
        <a:srgbClr val="5123B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2024-08-09T18:28:47Z</dcterms:created>
  <dc:creator>Cardoza, Katherine</dc:creator>
</cp:coreProperties>
</file>